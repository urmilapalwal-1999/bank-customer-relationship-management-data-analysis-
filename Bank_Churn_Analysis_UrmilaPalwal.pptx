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5" r:id="rId26"/>
    <p:sldId id="258" r:id="rId4"/>
    <p:sldId id="260" r:id="rId6"/>
    <p:sldId id="261" r:id="rId7"/>
    <p:sldId id="276" r:id="rId27"/>
    <p:sldId id="277" r:id="rId28"/>
    <p:sldId id="278" r:id="rId29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754880" cy="4754880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303520"/>
            <a:ext cx="2926080" cy="2926080"/>
          </a:xfrm>
          <a:prstGeom prst="ellipse">
            <a:avLst/>
          </a:prstGeom>
          <a:solidFill>
            <a:srgbClr val="17284A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1728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FINANCIAL SERVICES  |  CUSTOMER CHURN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Customer Relationship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(CRM) Data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&amp; Retention — Project Submission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011680" cy="12802"/>
          </a:xfrm>
          <a:prstGeom prst="rect">
            <a:avLst/>
          </a:prstGeom>
          <a:solidFill>
            <a:srgbClr val="B890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Urmila Palwal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•  Microsoft Power BI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Banking &amp; Financial Services   |   Focus: Customer Churn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ag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60020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" y="1828800"/>
            <a:ext cx="502920" cy="502920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11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3" y="19495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17099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25880" y="2057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 behind the churn study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2724912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7512" y="2953512"/>
            <a:ext cx="502920" cy="502920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16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307421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834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Schema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31821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across 7 CRM tables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849624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" y="4078224"/>
            <a:ext cx="502920" cy="502920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21" name="Image 3" descr="/home/claude/icons/fil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4198925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9593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325880" y="430682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and consistency fixes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4974336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67512" y="5202936"/>
            <a:ext cx="502920" cy="502920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26" name="Image 4" descr="/home/claude/icons/settin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3" y="5323637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50840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Approach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325880" y="54315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DAX &amp; Power BI methodology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02920" y="6099048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67512" y="6327648"/>
            <a:ext cx="502920" cy="502920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1" name="Image 5" descr="/home/claude/icons/pie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3" y="6448349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25880" y="62087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Reports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1325880" y="655624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demographics &amp; product report pages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72200" y="160020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36792" y="1828800"/>
            <a:ext cx="502920" cy="502920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6" name="Image 6" descr="/home/claude/icons/mapp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7493" y="1949501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95160" y="17099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&amp; Demographic Analysis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6995160" y="20574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Geography, gender &amp; credit-score patterns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172200" y="2724912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336792" y="2953512"/>
            <a:ext cx="502920" cy="502920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41" name="Image 7" descr="/home/claude/icons/pack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493" y="3074213"/>
            <a:ext cx="261518" cy="26151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95160" y="2834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Behavioral Analysis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6995160" y="31821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usage, tenure &amp; loyalty patterns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6172200" y="3849624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336792" y="4078224"/>
            <a:ext cx="502920" cy="502920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46" name="Image 8" descr="/home/claude/icons/za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7493" y="4198925"/>
            <a:ext cx="261518" cy="26151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995160" y="39593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Churn Drivers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6995160" y="430682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predicts and drives attrition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6172200" y="4974336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6336792" y="5202936"/>
            <a:ext cx="502920" cy="502920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51" name="Image 9" descr="/home/claude/icons/checksquar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7493" y="5323637"/>
            <a:ext cx="261518" cy="26151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6995160" y="50840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53" name="Text 41"/>
          <p:cNvSpPr/>
          <p:nvPr/>
        </p:nvSpPr>
        <p:spPr>
          <a:xfrm>
            <a:off x="6995160" y="543153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strategy for the bank</a:t>
            </a:r>
            <a:endParaRPr lang="en-US" sz="1050" dirty="0"/>
          </a:p>
        </p:txBody>
      </p:sp>
      <p:sp>
        <p:nvSpPr>
          <p:cNvPr id="54" name="Shape 42"/>
          <p:cNvSpPr/>
          <p:nvPr/>
        </p:nvSpPr>
        <p:spPr>
          <a:xfrm>
            <a:off x="6172200" y="6099048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6336792" y="6327648"/>
            <a:ext cx="502920" cy="502920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56" name="Image 10" descr="/home/claude/icons/fla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7493" y="6448349"/>
            <a:ext cx="261518" cy="261518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6995160" y="62087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8" name="Text 45"/>
          <p:cNvSpPr/>
          <p:nvPr/>
        </p:nvSpPr>
        <p:spPr>
          <a:xfrm>
            <a:off x="6995160" y="655624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outcomes and impact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187452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is losing a meaningful share of its customer base each year. Leadership needs a data-driven view of who is leaving, why, and where to intervene first.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306324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overall customer churn and protect the bank's deposit base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customer behaviour, engagement and product usage patterns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customers by geography, credit tier and product mix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 with KPIs and slicers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analytical findings into actionable retention strategies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0" y="187452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3" name="Image 1" descr="/home/claude/doc_unpacked/word/media/a3783618fb05add97e862995e11b260bf5d3b0f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809" y="2075688"/>
            <a:ext cx="2449822" cy="11521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75120" y="3456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churn snapshot (≈10,000 customer accounts)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675120" y="3977640"/>
            <a:ext cx="158191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766560" y="4050792"/>
            <a:ext cx="1399032" cy="6099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766560" y="4629607"/>
            <a:ext cx="139903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348472" y="3977640"/>
            <a:ext cx="158191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439912" y="4050792"/>
            <a:ext cx="1399032" cy="6099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8439912" y="4629607"/>
            <a:ext cx="139903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Tables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10021824" y="3977640"/>
            <a:ext cx="1682496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10113264" y="4050792"/>
            <a:ext cx="1499616" cy="6099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10113264" y="4629607"/>
            <a:ext cx="1499616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Markets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675120" y="5212080"/>
            <a:ext cx="5029200" cy="868680"/>
          </a:xfrm>
          <a:prstGeom prst="roundRect">
            <a:avLst>
              <a:gd name="adj" fmla="val 7368"/>
            </a:avLst>
          </a:prstGeom>
          <a:solidFill>
            <a:srgbClr val="12233F"/>
          </a:solidFill>
          <a:ln/>
        </p:spPr>
      </p:sp>
      <p:sp>
        <p:nvSpPr>
          <p:cNvPr id="25" name="Text 21"/>
          <p:cNvSpPr/>
          <p:nvPr/>
        </p:nvSpPr>
        <p:spPr>
          <a:xfrm>
            <a:off x="6903720" y="528523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pinpoint the customer segments most likely to churn, and design retention actions the bank can act on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1874520"/>
            <a:ext cx="5806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dataset into Power Query Editor (Power BI) to profile every column for null or blank values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major missing values were found across the dataset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active relationships between the 7 tables to support cross-table analysis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naming — e.g. renamed HasCrCard to Has_creditcard for schema clarity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AVAILABLE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4663440"/>
            <a:ext cx="5806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— remove rows with negligible missing values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imputation — fill nulls with mean / median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imputation — placeholder for missing categories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fill — forward/backward fill for time-series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29400" y="1554480"/>
            <a:ext cx="5074920" cy="2788920"/>
          </a:xfrm>
          <a:prstGeom prst="roundRect">
            <a:avLst>
              <a:gd name="adj" fmla="val 2623"/>
            </a:avLst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0" y="1783080"/>
            <a:ext cx="502920" cy="502920"/>
          </a:xfrm>
          <a:prstGeom prst="ellipse">
            <a:avLst/>
          </a:prstGeom>
          <a:solidFill>
            <a:srgbClr val="B8902E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15" name="Image 1" descr="/home/claude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157" y="1896237"/>
            <a:ext cx="276606" cy="2766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98080" y="1810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Discrepancy Uncovered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903720" y="237744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exist where a customer is marked Exited = 1 while still flagged IsActiveMember = 1 — a logical contradiction, since Exited is treated as the accurate field.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903720" y="33375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D9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the ETL pipeline fails to downgrade IsActiveMember to 0 when an account is closed — inflating "active member" counts unless corrected before reporting.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629400" y="452628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20" name="Image 2" descr="/home/claude/doc_unpacked/word/media/00c3c6fb449e06f09771e7b0c8679f791eceeed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239" y="4727448"/>
            <a:ext cx="1169243" cy="1380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29400" y="619963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output — flagged conflicting records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Approach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(MYSQL)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1874520"/>
            <a:ext cx="5669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 across CustomerInfo, Geography, Gender and Bank_Churn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segmentation: credit-score tiers, age brackets, balance tiers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(AVG, SUM, COUNT) for churn rate, salary and product usage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— RANK() OVER() to rank gender income by region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and correlated subqueries for tenure and active-customer filters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DAX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457200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calculated columns (e.g. composite CustomerID_Surname key)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KPI cards, bar/column/donut visuals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Geography, Gender, Active Status and Credit Card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to flag high-risk customers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46520" y="155448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0A1830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16642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— Credit score segment vs. exit rate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75120" y="1965960"/>
            <a:ext cx="48463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case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CreditScore &lt; 500 then "Low Credit Score"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CreditScore between 500 and 700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"Medium Credit Score"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"High Credit Score" end as segment,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count(CustomerId) as total_customer,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round(sum(Exited)*100/count(*),2) as exit_rate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bank_churn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segment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exit_rate desc;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46520" y="38862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7" name="Image 1" descr="/home/claude/doc_unpacked/word/media/86c66e37db03fcf7f13976d4d58a047f3b4377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140" y="4087368"/>
            <a:ext cx="2504560" cy="5577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446520" y="502920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EFE3C2"/>
          </a:solidFill>
          <a:ln w="12700">
            <a:solidFill>
              <a:srgbClr val="B8902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0" y="5102352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Low Credit Score segment shows the highest exit rate (23.60%), followed by Medium (20.66%) and High (19.35%) — credit health correlates with retention.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Balance Distribution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6492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home/claude/doc_unpacked/word/media/4954a0421cc65135f163d5acebf333fe1724d3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775263"/>
            <a:ext cx="6089904" cy="35360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5596128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account balance by geography (France, Germany, Spain)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02920" y="5989320"/>
            <a:ext cx="2084832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4360" y="6062472"/>
            <a:ext cx="1901952" cy="3977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€0.31bn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94360" y="6414516"/>
            <a:ext cx="1901952" cy="240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— Highest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15768" y="5989320"/>
            <a:ext cx="2084832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807208" y="6062472"/>
            <a:ext cx="1901952" cy="3977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€0.30bn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2807208" y="6414516"/>
            <a:ext cx="1901952" cy="240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— Close 2nd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928616" y="5989320"/>
            <a:ext cx="2066544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020056" y="6062472"/>
            <a:ext cx="1883664" cy="3977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€0.15bn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5020056" y="6414516"/>
            <a:ext cx="1883664" cy="240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— ~Half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2694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269480" y="1920240"/>
            <a:ext cx="4434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holds the highest total account balance at ≈€0.31 billion, leading all regions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follows closely at ≈€0.30 billion, showing strong balance retention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reports significantly lower balances (≈€0.15bn) — roughly half of France or Germany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balances are heavily concentrated in France and Germany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by Gender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6309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home/claude/doc_unpacked/word/media/d8e05fde83c4074ff13fb52aabc8e00408ee6da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760738"/>
            <a:ext cx="5907024" cy="40680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0807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gender, most recent year in the dataset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086600" y="1600200"/>
            <a:ext cx="22860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178040" y="1673352"/>
            <a:ext cx="2103120" cy="74249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25.07%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178040" y="2393899"/>
            <a:ext cx="21031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Churn Rate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464040" y="1600200"/>
            <a:ext cx="21945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555480" y="1673352"/>
            <a:ext cx="2011680" cy="74249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16.45%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9555480" y="2393899"/>
            <a:ext cx="201168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Churn Rate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08660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086600" y="352044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churn at a significantly higher rate (25.07%) than male customers (16.45%)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attrition accounts for over 60% of the relative churn proportion between genders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Female-focused engagement is a primary lever to reduce total customer loss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credit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Score &amp; Retention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RATE BY CREDIT-SCORE SEGMENT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1874520"/>
            <a:ext cx="6309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1" name="Image 1" descr="/home/claude/doc_unpacked/word/media/86c66e37db03fcf7f13976d4d58a047f3b4377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570" y="2075688"/>
            <a:ext cx="4968061" cy="11064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CREDIT SCORE: RETAINED VS. EXITED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3931920"/>
            <a:ext cx="6309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4" name="Image 2" descr="/home/claude/doc_unpacked/word/media/b50d67630b4399d1288e8190d6e5f511aab808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519" y="4133088"/>
            <a:ext cx="2780161" cy="106070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2920" y="5623560"/>
            <a:ext cx="3108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94360" y="5696712"/>
            <a:ext cx="2926080" cy="45079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651.85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594360" y="6105449"/>
            <a:ext cx="2926080" cy="2720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Score — Retained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703320" y="5623560"/>
            <a:ext cx="310896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3794760" y="5696712"/>
            <a:ext cx="2926080" cy="45079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645.35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3794760" y="6105449"/>
            <a:ext cx="2926080" cy="2720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Score — Exited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22376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223760" y="192024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Credit Score customers exit at the highest rate — 23.60%, vs. 20.66% (Medium) and 19.35% (High)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 carry a slightly higher average credit score (651.85) than churned customers (645.35)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modest (~6.5 points), suggesting credit health is a mild — not dominant — churn signal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Credit Score customers still drive the highest absolute churn volume simply due to segment size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Usage &amp; Churn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home/claude/doc_unpacked/word/media/0d5def5f23418ab8ef3133c9af420b93f89840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189491"/>
            <a:ext cx="6089904" cy="32105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08076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products held by customers who exited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269480" y="1600200"/>
            <a:ext cx="21945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360920" y="1673352"/>
            <a:ext cx="2011680" cy="6099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~1,400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360920" y="2252167"/>
            <a:ext cx="201168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w/ 1 Product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646920" y="1600200"/>
            <a:ext cx="20574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738360" y="1673352"/>
            <a:ext cx="1874520" cy="6099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1.53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9738360" y="2252167"/>
            <a:ext cx="187452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Products (CC holders)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2694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269480" y="324612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churned customers (≈1,400) held only 1 product at the time of exit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volume drops sharply for customers holding 2+ products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customers with 3 or 4 products ever churned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 a second product to single-product customers is the clearest lever to cut churn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Tenure &amp; Loyalty Patterns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59436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home/claude/doc_unpacked/word/media/26dc87cb732e83005f25dc38f2855e79e2f5dc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19" y="1755648"/>
            <a:ext cx="5084002" cy="40782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080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holding &amp; balance behaviour by tenure band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72084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720840" y="192024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(0–2 years) typically hold only 1 product — still "testing the waters" with the bank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customers (5+ years) commonly hold 2+ products — a strong indicator of loyalty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balances stabilise and grow with tenure, as customers shift from transactional to loyal, high-value clients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72084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720840" y="46634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targeted cross-selling within the first 12–24 months to build multi-product loyalty early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customers who reach the 5-year tenure mark with milestone loyalty perks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Affinity &amp; Cross-Sell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67208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home/claude/doc_unpacked/word/media/bd0b83cb0254efceba6312c5bd1afaa876a533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955035"/>
            <a:ext cx="6318504" cy="3679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08076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distribution by number of products &amp; credit-card ownership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45236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452360" y="1920240"/>
            <a:ext cx="4251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credit card is the bank's strongest natural product pairing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holding exactly 2 products show the lowest churn — the ideal loyalty "sweet spot"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product combinations are rare and correlate with markedly higher churn, suggesting fee or complexity friction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45236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452360" y="484632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cross-selling on credit-card offers for single-product customers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pushing a 3rd/4th product onto stable 2-product customers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Market Trends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67208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home/claude/doc_unpacked/word/media/1eeafe06253c79adb8389a1e571a84d4aba566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963674"/>
            <a:ext cx="6318504" cy="31592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559612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balance &amp; churn by geography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02920" y="5943600"/>
            <a:ext cx="2176272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4360" y="6016752"/>
            <a:ext cx="1993392" cy="4242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€120K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94360" y="639714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Avg. Balance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70632" y="5943600"/>
            <a:ext cx="2176272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862072" y="6016752"/>
            <a:ext cx="1993392" cy="4242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€62K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2862072" y="639714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Avg. Balance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0" y="594360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120640" y="6016752"/>
            <a:ext cx="2011680" cy="42428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€61K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5120640" y="639714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Avg. Balance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49808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— THE GERMAN WEALTH PARADOX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498080" y="196596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holds nearly double the average balance of France or Spain, but shows higher sensitivity to churn among high-net-worth customers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is the most stable market — moderate balances, but the highest volume of active, long-tenured customers (705 vs. 393 in Spain and 307 in Germany)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mirrors France's balance profile but with a smaller active-account footprint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Churn Drivers &amp; Predictors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home/claude/doc_unpacked/word/media/5a4ae097e8ee0787ef67f87067d7fb9c58c627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940306"/>
            <a:ext cx="6272784" cy="37089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080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importance of customer attributes in predicting churn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45236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PREDICTORS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452360" y="1901952"/>
            <a:ext cx="4251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NumOfProducts &amp; IsActiveMember — the two strongest behavioural predictors of churn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— moderate, contextual signal (churn clusters around the 5-year mark)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45236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NON-PREDICTORS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452360" y="3959352"/>
            <a:ext cx="4251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EstimatedSalary — virtually zero predictive value; high earners churn as often as low earners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correlation found between salary and balance, or salary and credit score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452360" y="5806440"/>
            <a:ext cx="4251960" cy="777240"/>
          </a:xfrm>
          <a:prstGeom prst="roundRect">
            <a:avLst>
              <a:gd name="adj" fmla="val 7059"/>
            </a:avLst>
          </a:prstGeom>
          <a:solidFill>
            <a:srgbClr val="EFE3C2"/>
          </a:solidFill>
          <a:ln w="12700">
            <a:solidFill>
              <a:srgbClr val="B8902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35240" y="587044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guidance: weight NumOfProducts &amp; IsActiveMember heavily; de-emphasise EstimatedSalary.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B8902E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7284A"/>
          </a:solidFill>
          <a:ln w="12700">
            <a:solidFill>
              <a:srgbClr val="2435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B8902E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10" name="Image 1" descr="/home/claude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4" y="19604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gap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1520" y="289864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churn at 25.07% vs. 16.45% for male customers.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70832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7284A"/>
          </a:solidFill>
          <a:ln w="12700">
            <a:solidFill>
              <a:srgbClr val="2435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99432" y="1828800"/>
            <a:ext cx="548640" cy="548640"/>
          </a:xfrm>
          <a:prstGeom prst="ellipse">
            <a:avLst/>
          </a:prstGeom>
          <a:solidFill>
            <a:srgbClr val="B8902E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15" name="Image 2" descr="/home/claude/icons/pack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106" y="19604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99432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entanglement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99432" y="289864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Single-product customers are the single biggest churn &amp; capital-loss group (~€0.5bn lost balance).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38744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7284A"/>
          </a:solidFill>
          <a:ln w="12700">
            <a:solidFill>
              <a:srgbClr val="24355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467344" y="1828800"/>
            <a:ext cx="548640" cy="548640"/>
          </a:xfrm>
          <a:prstGeom prst="ellipse">
            <a:avLst/>
          </a:prstGeom>
          <a:solidFill>
            <a:srgbClr val="B8902E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20" name="Image 3" descr="/home/claude/icons/map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018" y="19604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67344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467344" y="289864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leads in stable, long-tenured active customers; Germany carries the highest capital risk per churn.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7284A"/>
          </a:solidFill>
          <a:ln w="12700">
            <a:solidFill>
              <a:srgbClr val="24355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B8902E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25" name="Image 4" descr="/home/claude/icons/creditc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4" y="452079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" y="5074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health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31520" y="545896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credit-score customers churn at the highest rate (23.60%), though the effect is moderate.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370832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7284A"/>
          </a:solidFill>
          <a:ln w="12700">
            <a:solidFill>
              <a:srgbClr val="24355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599432" y="4389120"/>
            <a:ext cx="548640" cy="548640"/>
          </a:xfrm>
          <a:prstGeom prst="ellipse">
            <a:avLst/>
          </a:prstGeom>
          <a:solidFill>
            <a:srgbClr val="B8902E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0" name="Image 5" descr="/home/claude/icons/c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1106" y="452079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599432" y="5074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4599432" y="545896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 at exit is consistent (~4.8–5 years) across all age groups.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8238744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17284A"/>
          </a:solidFill>
          <a:ln w="12700">
            <a:solidFill>
              <a:srgbClr val="24355A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467344" y="4389120"/>
            <a:ext cx="548640" cy="548640"/>
          </a:xfrm>
          <a:prstGeom prst="ellipse">
            <a:avLst/>
          </a:prstGeom>
          <a:solidFill>
            <a:srgbClr val="B8902E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5" name="Image 6" descr="/home/claude/icons/trend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9018" y="4520794"/>
            <a:ext cx="285293" cy="28529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467344" y="5074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Predictors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8467344" y="545896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NumOfProducts and IsActiveMember drive churn risk; salary has almost no predictive value.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check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2029968"/>
            <a:ext cx="566928" cy="56692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11" name="Image 1" descr="/home/claude/icons/pack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63" y="216603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1682496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the second-product strategy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17320" y="2048256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credit cards or savings products to single-product customers within their first 12 months — the strongest churn lever available.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182112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639312"/>
            <a:ext cx="566928" cy="56692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16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3775375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9184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female-customer retention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17320" y="3657600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address the drivers behind the higher female churn rate with tailored engagement programs.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4791456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" y="5248656"/>
            <a:ext cx="566928" cy="56692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21" name="Image 3" descr="/home/claude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5384719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90118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high-value German accounts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417320" y="5266944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premium wealth-management and dedicated relationship managers for Germany's high-balance, high-flight-risk customers.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263640" y="1572768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46520" y="2029968"/>
            <a:ext cx="566928" cy="56692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26" name="Image 4" descr="/home/claude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583" y="2166031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1682496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early-warning triggers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178040" y="2048256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customers the moment IsActiveMember shifts to inactive — intervene before formal churn, not after.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63640" y="3182112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46520" y="3639312"/>
            <a:ext cx="566928" cy="56692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1" name="Image 5" descr="/home/claude/icons/creditc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2583" y="3775375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329184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low credit-score segments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178040" y="3657600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financial-education and credit-building perks to reduce the elevated churn rate in this tier.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63640" y="4791456"/>
            <a:ext cx="544068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46520" y="5248656"/>
            <a:ext cx="566928" cy="56692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6" name="Image 6" descr="/home/claude/icons/setting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2583" y="5384719"/>
            <a:ext cx="294803" cy="29480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78040" y="4901184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the multi-product journey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178040" y="5266944"/>
            <a:ext cx="43434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fees and UX for 3–4 product customers, whose churn spikes despite deep entanglement.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5029200" cy="5029200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B8902E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4" name="Image 0" descr="/home/claude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" y="17373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CRM analysis combined SQL-based data modelling with an interactive Power BI dashboard to explain and predict customer churn across the bank's three core markets.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single-product ownership and inactivity as the leading churn signals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regional risk — France stable &amp; loyal, Germany high-value but flight-prone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an interactive dashboard with KPIs and slicers for ongoing monitoring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findings into targeted, actionable retention recommendations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178040" y="3337560"/>
            <a:ext cx="2148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269480" y="3410712"/>
            <a:ext cx="1965960" cy="6099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7269480" y="3989527"/>
            <a:ext cx="196596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3337560"/>
            <a:ext cx="2148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88900" dist="25400" dir="5400000">
              <a:srgbClr val="12233F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601200" y="3410712"/>
            <a:ext cx="1965960" cy="6099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€0.5bn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9601200" y="3989527"/>
            <a:ext cx="196596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Single-Product Balance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2233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728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68680" y="3429000"/>
            <a:ext cx="2011680" cy="12802"/>
          </a:xfrm>
          <a:prstGeom prst="rect">
            <a:avLst/>
          </a:prstGeom>
          <a:solidFill>
            <a:srgbClr val="B890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Urmila Palwal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178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•  Microsoft Power BI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pie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Schema — Entity Relationships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08760"/>
            <a:ext cx="7772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home/claude/doc_unpacked/word/media/fde2c678abfe13ede4d32057dad9541e912d5f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420235"/>
            <a:ext cx="7370064" cy="28862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model — relationships across the 7 CRM tables (star-schema style joins)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50392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503920" y="18745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Bank_Churn — credit score, balance, churn risk (fact table, one row per CustomerId)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CustomerInfo — age, salary, tenure &amp; the CustomerId/GenderId/GeographyId keys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Gender — lookup dimensions joined back to CustomerInfo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5039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TABLES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503920" y="391363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 — card category, linked by CreditID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ActiveCustomer — active vs. inactive flag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ExitCustomer — retain vs. exit outcome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50392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TYPE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503920" y="546811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joins on CustomerId and CreditID keep the model in a clean, query-friendly star schema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pie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Analysis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08760"/>
            <a:ext cx="7772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home/claude/doc_unpacked/word/media/fde2c678abfe13ede4d32057dad9541e912d5f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38" y="1966150"/>
            <a:ext cx="6956363" cy="37943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churn-analysis report page — churn rate by gender, geography &amp; salary, exit breakdown and tenure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50392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(TOP ROW)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503920" y="18745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Balance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ActiveMember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CreditScore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5039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503920" y="391363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% by gender, geography &amp; salary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category: retain vs. exit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by exit status &amp; tenure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50392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AVAILABLE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503920" y="546811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GeographyLocation  •  Year  •  Age_Bucket  •  GenderCategory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pie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Demographics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08760"/>
            <a:ext cx="7772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home/claude/doc_unpacked/word/media/fde2c678abfe13ede4d32057dad9541e912d5f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09" y="1966150"/>
            <a:ext cx="7051222" cy="37943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demographics report page — gender split, geography mix, age &amp; tenure distribution, salary and credit-score cuts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50392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(TOP ROW)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503920" y="18745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Balance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ActiveMember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CreditScore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5039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503920" y="391363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&amp; customers by geography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bucket &amp; tenure distribution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salary &amp; credit score by region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50392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AVAILABLE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503920" y="546811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GeographyLocation  •  Year  •  Age_Bucket  •  GenderCategory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2233F"/>
          </a:solidFill>
          <a:ln/>
          <a:effectLst>
            <a:outerShdw sx="100000" sy="100000" kx="0" ky="0" algn="bl" rotWithShape="0" blurRad="101600" dist="38100" dir="5400000">
              <a:srgbClr val="0A1830">
                <a:alpha val="25000"/>
              </a:srgbClr>
            </a:outerShdw>
          </a:effectLst>
        </p:spPr>
      </p:sp>
      <p:pic>
        <p:nvPicPr>
          <p:cNvPr id="3" name="Image 0" descr="/home/claude/icons/pie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928" y="61520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38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6766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Engagement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0" y="1298448"/>
            <a:ext cx="12188952" cy="10973"/>
          </a:xfrm>
          <a:prstGeom prst="rect">
            <a:avLst/>
          </a:prstGeom>
          <a:solidFill>
            <a:srgbClr val="E1E6EE"/>
          </a:solidFill>
          <a:ln/>
        </p:spPr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CRM CHURN ANALYSIS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08760"/>
            <a:ext cx="7772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1E6EE"/>
            </a:solidFill>
            <a:prstDash val="solid"/>
          </a:ln>
          <a:effectLst>
            <a:outerShdw sx="100000" sy="100000" kx="0" ky="0" algn="bl" rotWithShape="0" blurRad="127000" dist="38100" dir="5400000">
              <a:srgbClr val="12233F">
                <a:alpha val="18000"/>
              </a:srgbClr>
            </a:outerShdw>
          </a:effectLst>
        </p:spPr>
      </p:sp>
      <p:pic>
        <p:nvPicPr>
          <p:cNvPr id="10" name="Image 1" descr="/home/claude/doc_unpacked/word/media/fde2c678abfe13ede4d32057dad9541e912d5f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90" y="1966150"/>
            <a:ext cx="6887059" cy="37943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6263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product-engagement report page — credit-card usage, product holding mix, and active vs. inactive customers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50392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(TOP ROW)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503920" y="18745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Balance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ActiveMember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CreditScore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5039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503920" y="3913632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Credit-card usage &amp; ownership mix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credit score &amp; balance by products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inactive customer split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50392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B89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AVAILABLE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503920" y="546811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GeographyLocation  •  Year  •  Age_Bucket  •  GenderCategory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2026-08-03T07:59:29Z</dcterms:created>
  <dcterms:modified xsi:type="dcterms:W3CDTF">2026-08-03T07:59:29Z</dcterms:modified>
</cp:coreProperties>
</file>